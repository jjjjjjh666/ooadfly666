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57" r:id="rId5"/>
    <p:sldId id="274" r:id="rId6"/>
    <p:sldId id="275" r:id="rId7"/>
    <p:sldId id="276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9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9" r:id="rId25"/>
  </p:sldIdLst>
  <p:sldSz cx="12192000" cy="6858000"/>
  <p:notesSz cx="6858000" cy="9144000"/>
  <p:embeddedFontLst>
    <p:embeddedFont>
      <p:font typeface="汉仪君黑-45简" panose="020B0604020202020204" charset="-122"/>
      <p:regular r:id="rId31"/>
    </p:embeddedFont>
    <p:embeddedFont>
      <p:font typeface="汉仪中宋简" panose="02010609000101010101" charset="-122"/>
      <p:regular r:id="rId32"/>
    </p:embeddedFont>
    <p:embeddedFont>
      <p:font typeface="微软雅黑" panose="020B0503020204020204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振威 郑" initials="振威" lastIdx="1" clrIdx="0"/>
  <p:cmAuthor id="2" name="作者" initials="A" lastIdx="0" clrIdx="1"/>
  <p:cmAuthor id="3" name="fafa" initials="f" lastIdx="2" clrIdx="1"/>
  <p:cmAuthor id="4" name="王习习" initials="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244" autoAdjust="0"/>
  </p:normalViewPr>
  <p:slideViewPr>
    <p:cSldViewPr snapToGrid="0">
      <p:cViewPr>
        <p:scale>
          <a:sx n="66" d="100"/>
          <a:sy n="66" d="100"/>
        </p:scale>
        <p:origin x="653" y="40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05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君黑-45简" panose="020B0604020202020204" charset="-122"/>
        <a:ea typeface="汉仪君黑-45简" panose="020B0604020202020204" charset="-122"/>
        <a:cs typeface="汉仪君黑-45简" panose="020B0604020202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8999089988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21" name="圆角矩形 20"/>
          <p:cNvSpPr/>
          <p:nvPr userDrawn="1"/>
        </p:nvSpPr>
        <p:spPr>
          <a:xfrm>
            <a:off x="165735" y="146050"/>
            <a:ext cx="11887200" cy="6564630"/>
          </a:xfrm>
          <a:prstGeom prst="roundRect">
            <a:avLst>
              <a:gd name="adj" fmla="val 5726"/>
            </a:avLst>
          </a:prstGeom>
          <a:solidFill>
            <a:schemeClr val="bg1"/>
          </a:solidFill>
          <a:ln>
            <a:solidFill>
              <a:srgbClr val="4955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999089988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98065" y="1780395"/>
            <a:ext cx="77038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000" dirty="0">
                <a:solidFill>
                  <a:srgbClr val="49558A"/>
                </a:solidFill>
                <a:latin typeface="汉仪中宋简" panose="02010609000101010101" charset="-122"/>
                <a:ea typeface="汉仪中宋简" panose="02010609000101010101" charset="-122"/>
                <a:cs typeface="汉仪君黑-45简" panose="020B0604020202020204" charset="-122"/>
                <a:sym typeface="汉仪中宋简" panose="02010609000101010101" charset="-122"/>
              </a:rPr>
              <a:t>需求分析：服务部分</a:t>
            </a:r>
            <a:endParaRPr lang="zh-CN" altLang="zh-CN" sz="6000" dirty="0">
              <a:solidFill>
                <a:srgbClr val="49558A"/>
              </a:solidFill>
              <a:latin typeface="汉仪中宋简" panose="02010609000101010101" charset="-122"/>
              <a:ea typeface="汉仪中宋简" panose="02010609000101010101" charset="-122"/>
              <a:cs typeface="汉仪君黑-45简" panose="020B0604020202020204" charset="-122"/>
              <a:sym typeface="汉仪中宋简" panose="02010609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47010" y="3233275"/>
            <a:ext cx="7008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rgbClr val="545864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9562" y="2773382"/>
            <a:ext cx="510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《面向对象分析与设计》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第一次讨论课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24455" y="3662680"/>
            <a:ext cx="71939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组号：</a:t>
            </a:r>
            <a:r>
              <a:rPr lang="en-US" altLang="zh-CN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3-9  </a:t>
            </a:r>
            <a:endParaRPr lang="en-US" altLang="zh-CN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组名：飞行日记</a:t>
            </a:r>
            <a:endParaRPr lang="zh-CN" altLang="en-US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组员：金承浩、李嘉豪、刘予乐、钟启恒、刘劲宏</a:t>
            </a:r>
            <a:endParaRPr lang="zh-CN" altLang="en-US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汇报时间：</a:t>
            </a:r>
            <a:r>
              <a:rPr lang="en-US" altLang="zh-CN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2025.9.26</a:t>
            </a:r>
            <a:endParaRPr lang="en-US" altLang="zh-CN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04080" y="347345"/>
            <a:ext cx="27552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OOMALL2025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2" name="直接连接符 11"/>
          <p:cNvCxnSpPr>
            <a:stCxn id="11" idx="1"/>
          </p:cNvCxnSpPr>
          <p:nvPr/>
        </p:nvCxnSpPr>
        <p:spPr>
          <a:xfrm flipH="1">
            <a:off x="4262755" y="501015"/>
            <a:ext cx="4413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7526655" y="500380"/>
            <a:ext cx="43370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2997200" y="2977370"/>
            <a:ext cx="1002030" cy="0"/>
          </a:xfrm>
          <a:prstGeom prst="line">
            <a:avLst/>
          </a:prstGeom>
          <a:ln>
            <a:solidFill>
              <a:srgbClr val="4955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442960" y="2977370"/>
            <a:ext cx="1002030" cy="0"/>
          </a:xfrm>
          <a:prstGeom prst="line">
            <a:avLst/>
          </a:prstGeom>
          <a:ln>
            <a:solidFill>
              <a:srgbClr val="4955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989890808980989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50" name="矩形: 圆角 49"/>
          <p:cNvSpPr/>
          <p:nvPr>
            <p:custDataLst>
              <p:tags r:id="rId2"/>
            </p:custDataLst>
          </p:nvPr>
        </p:nvSpPr>
        <p:spPr>
          <a:xfrm>
            <a:off x="4307840" y="2517775"/>
            <a:ext cx="3890645" cy="717550"/>
          </a:xfrm>
          <a:prstGeom prst="roundRect">
            <a:avLst>
              <a:gd name="adj" fmla="val 9281"/>
            </a:avLst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noProof="0" dirty="0">
                <a:ln>
                  <a:noFill/>
                </a:ln>
                <a:solidFill>
                  <a:srgbClr val="49558A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cs typeface="+mn-ea"/>
                <a:sym typeface="Arial" panose="020B0604020202020204" pitchFamily="34" charset="0"/>
              </a:rPr>
              <a:t>用例图</a:t>
            </a:r>
            <a:endParaRPr lang="zh-CN" altLang="en-US" sz="3200" dirty="0">
              <a:solidFill>
                <a:srgbClr val="49558A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58" name="矩形: 圆角 57"/>
          <p:cNvSpPr/>
          <p:nvPr>
            <p:custDataLst>
              <p:tags r:id="rId3"/>
            </p:custDataLst>
          </p:nvPr>
        </p:nvSpPr>
        <p:spPr>
          <a:xfrm>
            <a:off x="4307840" y="4744085"/>
            <a:ext cx="3890645" cy="717550"/>
          </a:xfrm>
          <a:prstGeom prst="roundRect">
            <a:avLst>
              <a:gd name="adj" fmla="val 9281"/>
            </a:avLst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49558A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ea"/>
              </a:rPr>
              <a:t>业务流程图</a:t>
            </a:r>
            <a:endParaRPr lang="zh-CN" altLang="en-US" sz="3200" dirty="0">
              <a:solidFill>
                <a:srgbClr val="49558A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64" name="矩形: 圆角 63"/>
          <p:cNvSpPr/>
          <p:nvPr>
            <p:custDataLst>
              <p:tags r:id="rId4"/>
            </p:custDataLst>
          </p:nvPr>
        </p:nvSpPr>
        <p:spPr>
          <a:xfrm>
            <a:off x="4307840" y="3651250"/>
            <a:ext cx="3890645" cy="717550"/>
          </a:xfrm>
          <a:prstGeom prst="roundRect">
            <a:avLst>
              <a:gd name="adj" fmla="val 9281"/>
            </a:avLst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noProof="0" dirty="0">
                <a:ln>
                  <a:noFill/>
                </a:ln>
                <a:solidFill>
                  <a:srgbClr val="49558A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cs typeface="+mn-ea"/>
                <a:sym typeface="Arial" panose="020B0604020202020204" pitchFamily="34" charset="0"/>
              </a:rPr>
              <a:t>用例</a:t>
            </a:r>
            <a:endParaRPr lang="zh-CN" altLang="en-US" sz="3200" noProof="0" dirty="0">
              <a:ln>
                <a:noFill/>
              </a:ln>
              <a:solidFill>
                <a:srgbClr val="49558A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矩形"/>
          <p:cNvSpPr/>
          <p:nvPr>
            <p:custDataLst>
              <p:tags r:id="rId5"/>
            </p:custDataLst>
          </p:nvPr>
        </p:nvSpPr>
        <p:spPr>
          <a:xfrm>
            <a:off x="3997960" y="2546985"/>
            <a:ext cx="613410" cy="613410"/>
          </a:xfrm>
          <a:prstGeom prst="roundRect">
            <a:avLst/>
          </a:pr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002405" y="26187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01</a:t>
            </a:r>
            <a:endParaRPr lang="en-US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2" name="矩形"/>
          <p:cNvSpPr/>
          <p:nvPr>
            <p:custDataLst>
              <p:tags r:id="rId7"/>
            </p:custDataLst>
          </p:nvPr>
        </p:nvSpPr>
        <p:spPr>
          <a:xfrm>
            <a:off x="4011930" y="3708400"/>
            <a:ext cx="613410" cy="613410"/>
          </a:xfrm>
          <a:prstGeom prst="roundRect">
            <a:avLst/>
          </a:pr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4016375" y="378015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02</a:t>
            </a:r>
            <a:endParaRPr lang="en-US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4" name="矩形"/>
          <p:cNvSpPr/>
          <p:nvPr>
            <p:custDataLst>
              <p:tags r:id="rId9"/>
            </p:custDataLst>
          </p:nvPr>
        </p:nvSpPr>
        <p:spPr>
          <a:xfrm>
            <a:off x="4030980" y="4784090"/>
            <a:ext cx="613410" cy="613410"/>
          </a:xfrm>
          <a:prstGeom prst="roundRect">
            <a:avLst/>
          </a:pr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4035425" y="485584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03</a:t>
            </a:r>
            <a:endParaRPr lang="en-US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3987165" y="1078230"/>
            <a:ext cx="3970655" cy="836295"/>
          </a:xfrm>
          <a:prstGeom prst="roundRect">
            <a:avLst/>
          </a:pr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A09B88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45865" y="1174115"/>
            <a:ext cx="4452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目 录 </a:t>
            </a:r>
            <a:r>
              <a:rPr lang="en-US" altLang="zh-CN" sz="36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/ CONTENTS</a:t>
            </a:r>
            <a:endParaRPr lang="en-US" altLang="zh-CN" sz="36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11"/>
            </p:custDataLst>
          </p:nvPr>
        </p:nvSpPr>
        <p:spPr>
          <a:xfrm>
            <a:off x="4005580" y="2467610"/>
            <a:ext cx="664845" cy="756285"/>
          </a:xfrm>
          <a:prstGeom prst="roundRect">
            <a:avLst/>
          </a:prstGeom>
          <a:noFill/>
          <a:ln>
            <a:solidFill>
              <a:srgbClr val="49558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2"/>
            </p:custDataLst>
          </p:nvPr>
        </p:nvSpPr>
        <p:spPr>
          <a:xfrm>
            <a:off x="4005580" y="3631565"/>
            <a:ext cx="664845" cy="756285"/>
          </a:xfrm>
          <a:prstGeom prst="roundRect">
            <a:avLst/>
          </a:prstGeom>
          <a:noFill/>
          <a:ln>
            <a:solidFill>
              <a:srgbClr val="49558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3"/>
            </p:custDataLst>
          </p:nvPr>
        </p:nvSpPr>
        <p:spPr>
          <a:xfrm>
            <a:off x="4044950" y="4705350"/>
            <a:ext cx="664845" cy="756285"/>
          </a:xfrm>
          <a:prstGeom prst="roundRect">
            <a:avLst/>
          </a:prstGeom>
          <a:noFill/>
          <a:ln>
            <a:solidFill>
              <a:srgbClr val="49558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12496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用例图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pic>
        <p:nvPicPr>
          <p:cNvPr id="202" name="图片 2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8660" y="1308100"/>
            <a:ext cx="5285105" cy="487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2471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用例图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525"/>
          <a:stretch>
            <a:fillRect/>
          </a:stretch>
        </p:blipFill>
        <p:spPr>
          <a:xfrm>
            <a:off x="5952490" y="363220"/>
            <a:ext cx="4963795" cy="4058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9045"/>
          <a:stretch>
            <a:fillRect/>
          </a:stretch>
        </p:blipFill>
        <p:spPr>
          <a:xfrm>
            <a:off x="6316980" y="4238625"/>
            <a:ext cx="3500755" cy="2286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353310"/>
            <a:ext cx="3967480" cy="310388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 rot="9540000" flipH="1">
            <a:off x="4977130" y="2461895"/>
            <a:ext cx="877570" cy="565785"/>
            <a:chOff x="3757247" y="3429001"/>
            <a:chExt cx="928845" cy="1219201"/>
          </a:xfrm>
          <a:gradFill>
            <a:gsLst>
              <a:gs pos="47000">
                <a:schemeClr val="accent1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  <a:gs pos="71000">
                <a:srgbClr val="668CBF">
                  <a:alpha val="94000"/>
                </a:srgb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/>
        </p:grpSpPr>
        <p:sp>
          <p:nvSpPr>
            <p:cNvPr id="33" name="任意形状 87"/>
            <p:cNvSpPr/>
            <p:nvPr/>
          </p:nvSpPr>
          <p:spPr>
            <a:xfrm rot="5400000" flipH="1">
              <a:off x="3505176" y="3681072"/>
              <a:ext cx="1219201" cy="715059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>
              <a:gsLst>
                <a:gs pos="32000">
                  <a:schemeClr val="accent1">
                    <a:lumMod val="60000"/>
                    <a:lumOff val="40000"/>
                  </a:schemeClr>
                </a:gs>
                <a:gs pos="78000">
                  <a:schemeClr val="accent5">
                    <a:lumMod val="75000"/>
                  </a:schemeClr>
                </a:gs>
                <a:gs pos="44000">
                  <a:srgbClr val="668CBF">
                    <a:alpha val="94000"/>
                  </a:srgb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任意形状 88"/>
            <p:cNvSpPr/>
            <p:nvPr/>
          </p:nvSpPr>
          <p:spPr>
            <a:xfrm rot="5400000" flipH="1">
              <a:off x="3961913" y="3786497"/>
              <a:ext cx="944146" cy="504212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>
              <a:gsLst>
                <a:gs pos="32000">
                  <a:schemeClr val="accent1">
                    <a:lumMod val="60000"/>
                    <a:lumOff val="40000"/>
                  </a:schemeClr>
                </a:gs>
                <a:gs pos="78000">
                  <a:schemeClr val="accent5">
                    <a:lumMod val="75000"/>
                  </a:schemeClr>
                </a:gs>
                <a:gs pos="44000">
                  <a:srgbClr val="668CBF">
                    <a:alpha val="94000"/>
                  </a:srgb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2240000" flipH="1">
            <a:off x="5025390" y="4337050"/>
            <a:ext cx="877570" cy="565785"/>
            <a:chOff x="3757247" y="3429001"/>
            <a:chExt cx="928845" cy="1219201"/>
          </a:xfrm>
          <a:gradFill>
            <a:gsLst>
              <a:gs pos="47000">
                <a:schemeClr val="accent1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  <a:gs pos="71000">
                <a:srgbClr val="668CBF">
                  <a:alpha val="94000"/>
                </a:srgb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/>
        </p:grpSpPr>
        <p:sp>
          <p:nvSpPr>
            <p:cNvPr id="9" name="任意形状 87"/>
            <p:cNvSpPr/>
            <p:nvPr/>
          </p:nvSpPr>
          <p:spPr>
            <a:xfrm rot="5400000" flipH="1">
              <a:off x="3505176" y="3681072"/>
              <a:ext cx="1219201" cy="715059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>
              <a:gsLst>
                <a:gs pos="32000">
                  <a:schemeClr val="accent1">
                    <a:lumMod val="60000"/>
                    <a:lumOff val="40000"/>
                  </a:schemeClr>
                </a:gs>
                <a:gs pos="78000">
                  <a:schemeClr val="accent5">
                    <a:lumMod val="75000"/>
                  </a:schemeClr>
                </a:gs>
                <a:gs pos="44000">
                  <a:srgbClr val="668CBF">
                    <a:alpha val="94000"/>
                  </a:srgb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任意形状 88"/>
            <p:cNvSpPr/>
            <p:nvPr/>
          </p:nvSpPr>
          <p:spPr>
            <a:xfrm rot="5400000" flipH="1">
              <a:off x="3961913" y="3786497"/>
              <a:ext cx="944146" cy="504212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>
              <a:gsLst>
                <a:gs pos="32000">
                  <a:schemeClr val="accent1">
                    <a:lumMod val="60000"/>
                    <a:lumOff val="40000"/>
                  </a:schemeClr>
                </a:gs>
                <a:gs pos="78000">
                  <a:schemeClr val="accent5">
                    <a:lumMod val="75000"/>
                  </a:schemeClr>
                </a:gs>
                <a:gs pos="44000">
                  <a:srgbClr val="668CBF">
                    <a:alpha val="94000"/>
                  </a:srgb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6050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申请提供服务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404745" y="1129030"/>
          <a:ext cx="7542530" cy="5119370"/>
        </p:xfrm>
        <a:graphic>
          <a:graphicData uri="http://schemas.openxmlformats.org/drawingml/2006/table">
            <a:tbl>
              <a:tblPr/>
              <a:tblGrid>
                <a:gridCol w="3771265"/>
                <a:gridCol w="3771265"/>
              </a:tblGrid>
              <a:tr h="29464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用例名称：申请提供服务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464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400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9687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描述：服务商向商户申请提供服务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400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触发事件：服务商查看商户信息并选择申请提供服务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464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系统显示所选商户信息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商户名称，商户类型，商户地区，商户状态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服务商选择向商户申请提供服务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系统提示申请提交成功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9527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服务商放弃申请提供服务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系统终止后续步骤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服务商或商户状态不合理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系统提示状态异常申请失败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接受设定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534920" y="1083310"/>
          <a:ext cx="7647940" cy="5433695"/>
        </p:xfrm>
        <a:graphic>
          <a:graphicData uri="http://schemas.openxmlformats.org/drawingml/2006/table">
            <a:tbl>
              <a:tblPr/>
              <a:tblGrid>
                <a:gridCol w="3823970"/>
                <a:gridCol w="3823970"/>
              </a:tblGrid>
              <a:tr h="32385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用例名称：接受设定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9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描述：服务商接受商户设定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813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触发事件：商户设定服务商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623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4260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系统提示服务商被设定的服务内容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服务商确认接受商户设定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56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系统提示服务商设定成功并更改服务商状态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服务商拒绝接受设定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373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系统提示已拒绝设定并更新服务商状态，生成记录反馈给商户和服务商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拒绝时间，拒绝原因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08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249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查看服务单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238375" y="1128395"/>
          <a:ext cx="7876540" cy="5135880"/>
        </p:xfrm>
        <a:graphic>
          <a:graphicData uri="http://schemas.openxmlformats.org/drawingml/2006/table">
            <a:tbl>
              <a:tblPr/>
              <a:tblGrid>
                <a:gridCol w="3938270"/>
                <a:gridCol w="3938270"/>
              </a:tblGrid>
              <a:tr h="34734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用例名称：查看服务单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98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98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671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描述：服务商查看服务单详情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触发事件：服务商选择查看服务单详情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98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5556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98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服务商选择要查看的服务单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0426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系统显示要查看的服务单详情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98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4734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249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查询服务单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997075" y="1143000"/>
          <a:ext cx="8619490" cy="5181600"/>
        </p:xfrm>
        <a:graphic>
          <a:graphicData uri="http://schemas.openxmlformats.org/drawingml/2006/table">
            <a:tbl>
              <a:tblPr/>
              <a:tblGrid>
                <a:gridCol w="4309745"/>
                <a:gridCol w="4309745"/>
              </a:tblGrid>
              <a:tr h="2628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用例名称：查询服务单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2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描述：服务商查询服务单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35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触发事件：服务商选择查询服务单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25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51181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系统显示所有服务单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74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服务商选择分类查询或关键字查询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类别：服务单状态（已接、已接未完成、已完成、撤销）、服务时间（具体日期、日期范围）、服务类别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关键字：服务单号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181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系统显示符合条件的服务单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25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628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没有符合条件的服务单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系统提示没有相关服务单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249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接受服务单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009140" y="1071245"/>
          <a:ext cx="8680450" cy="5389880"/>
        </p:xfrm>
        <a:graphic>
          <a:graphicData uri="http://schemas.openxmlformats.org/drawingml/2006/table">
            <a:tbl>
              <a:tblPr/>
              <a:tblGrid>
                <a:gridCol w="4340225"/>
                <a:gridCol w="4340225"/>
              </a:tblGrid>
              <a:tr h="27178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MALL-SERVICE-005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用例名称：接受服务单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描述：服务商查看服务后确认接受服务单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触发事件：服务商查看可接受服务单详情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10515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系统显示当前可接受服务单详情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服务商选择接受服务单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895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系统提示已成功接受服务单并更新服务单状态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服务不在服务商服务范围内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服务商拒绝服务单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19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系统更新服务单状态，进入用例撤销服务单（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MALL-SERVICE-004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249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完成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879600" y="1099185"/>
          <a:ext cx="8766810" cy="5203825"/>
        </p:xfrm>
        <a:graphic>
          <a:graphicData uri="http://schemas.openxmlformats.org/drawingml/2006/table">
            <a:tbl>
              <a:tblPr/>
              <a:tblGrid>
                <a:gridCol w="4383405"/>
                <a:gridCol w="4383405"/>
              </a:tblGrid>
              <a:tr h="2768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MALL-SERVICE-006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用例名称：完成服务单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8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2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74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描述：服务商完成服务并确认服务单已完成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2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触发事件：服务商查看待完成服务单详情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68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10693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系统显示当前待完成服务单详情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8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服务商确认完成服务单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721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系统提示已完成服务单并更新服务单状态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当前服务单为寄修服务单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0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系统进入用例发件（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MALL-SERVICE-006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），终止后续步骤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8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4249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撤销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108200" y="1229995"/>
          <a:ext cx="8073390" cy="5203190"/>
        </p:xfrm>
        <a:graphic>
          <a:graphicData uri="http://schemas.openxmlformats.org/drawingml/2006/table">
            <a:tbl>
              <a:tblPr/>
              <a:tblGrid>
                <a:gridCol w="4036695"/>
                <a:gridCol w="4036695"/>
              </a:tblGrid>
              <a:tr h="3276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用例名称：撤销服务单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82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82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描述：服务商查看服务后确认撤销服务单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触发事件：服务商查看待撤销服务单详情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12674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系统显示当前待撤销服务单详情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服务商确认撤销服务单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595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系统提示已撤销服务单并更新服务单状态，生成记录反馈给商户和客户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服务商信息，拒绝时间，拒绝原因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确认收件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830070" y="1089660"/>
          <a:ext cx="8939530" cy="5402580"/>
        </p:xfrm>
        <a:graphic>
          <a:graphicData uri="http://schemas.openxmlformats.org/drawingml/2006/table">
            <a:tbl>
              <a:tblPr/>
              <a:tblGrid>
                <a:gridCol w="4469765"/>
                <a:gridCol w="4469765"/>
              </a:tblGrid>
              <a:tr h="2724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MALL-SERVICE-008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用例名称：确认收件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0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30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描述：服务商查看寄修服务后确认收到客户的寄件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30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触发事件：服务商查看寄修服务单详情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105410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系统显示当前寄修服务单详情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05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服务商核对服务单信息，确认收件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保修范围，客户维修意见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系统提示已确认收件并更新状态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05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5302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商品不在保修范围内或维修意见不一致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05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服务商拒绝收件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46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系统更新服务单状态，进入用例撤销服务单（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MALL-SERVICE-004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1826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用例：服务商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发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件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065020" y="1226185"/>
          <a:ext cx="8464550" cy="5041900"/>
        </p:xfrm>
        <a:graphic>
          <a:graphicData uri="http://schemas.openxmlformats.org/drawingml/2006/table">
            <a:tbl>
              <a:tblPr/>
              <a:tblGrid>
                <a:gridCol w="4232275"/>
                <a:gridCol w="4232275"/>
              </a:tblGrid>
              <a:tr h="33083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MALL-SERVICE-009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用例名称：发件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083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083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描述：服务商确认完成寄修服务单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083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触发事件：服务商确认完成寄修服务单需要寄回商品或服务商拒绝收件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083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7435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系统显示当前商品对应的服务单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服务时间，服务单号，服务类别，服务单状态，服务地区，服务品牌，服务商品，顾客详细信息，服务需求，服务历程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8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服务商上传物流单号并确认发件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服务历程：物流（物流单号）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系统显示发件，更新物流状态为已发件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83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服务商并未按时上传物流单号确认发件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系统提醒服务商完成发件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83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2115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用例图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65" y="1336675"/>
            <a:ext cx="5360035" cy="4933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80" y="2099310"/>
            <a:ext cx="4760595" cy="3587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查询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047875" y="1017905"/>
          <a:ext cx="8133080" cy="5586730"/>
        </p:xfrm>
        <a:graphic>
          <a:graphicData uri="http://schemas.openxmlformats.org/drawingml/2006/table">
            <a:tbl>
              <a:tblPr/>
              <a:tblGrid>
                <a:gridCol w="4066540"/>
                <a:gridCol w="4066540"/>
              </a:tblGrid>
              <a:tr h="28638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用例名称：查询服务商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1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1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1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1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描述：商户查询目标服务商信息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1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触发事件：商户选择查询服务商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49403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系统显示所有服务商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171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商户选择分类查询或关键字查询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类别：服务商状态（正常、待设定、暂停、取消）、服务类型、服务地区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关键字：服务商名称</a:t>
                      </a:r>
                      <a:b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系统显示符合条件的服务商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商户选择目标服务商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84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系统显示目标服务商详细信息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服务商名称，服务类型，服务地区，服务商状态，服务商品牌，服务商地址，联系方式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没有符合条件的服务商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系统提示没有相关服务商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设定服务商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058035" y="1181100"/>
          <a:ext cx="8148320" cy="4860290"/>
        </p:xfrm>
        <a:graphic>
          <a:graphicData uri="http://schemas.openxmlformats.org/drawingml/2006/table">
            <a:tbl>
              <a:tblPr/>
              <a:tblGrid>
                <a:gridCol w="4074160"/>
                <a:gridCol w="4074160"/>
              </a:tblGrid>
              <a:tr h="3263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用例名称：设定服务商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7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描述：商户查看服务商信息并为服务设定目标服务商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触发事件：商户查看申请提供服务的待设定服务商详情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9467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商户查看待设定服务商详细信息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服务商名称，服务类型，服务地区，服务商状态，服务商品牌，服务商地址，联系方式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商户确认设定服务商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214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系统提示已设定服务商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更新服务商状态并提示服务商设定提醒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75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2639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暂停服务商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953895" y="1125855"/>
          <a:ext cx="8357870" cy="5051425"/>
        </p:xfrm>
        <a:graphic>
          <a:graphicData uri="http://schemas.openxmlformats.org/drawingml/2006/table">
            <a:tbl>
              <a:tblPr/>
              <a:tblGrid>
                <a:gridCol w="4178935"/>
                <a:gridCol w="4178935"/>
              </a:tblGrid>
              <a:tr h="3403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用例名称：暂停服务商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3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3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描述：商户查看服务商信息并暂停目标服务商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36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触发事件：商户查看待暂停服务商详情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9880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商户查看待暂停服务商详细信息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服务商名称，服务类型，服务地区，服务商状态，服务商品牌，服务商地址，联系方式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商户确认暂停服务商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167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系统提示已暂停服务商并更新服务商状态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恢复服务商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756410" y="1320800"/>
          <a:ext cx="8804910" cy="5057140"/>
        </p:xfrm>
        <a:graphic>
          <a:graphicData uri="http://schemas.openxmlformats.org/drawingml/2006/table">
            <a:tbl>
              <a:tblPr/>
              <a:tblGrid>
                <a:gridCol w="4402455"/>
                <a:gridCol w="4402455"/>
              </a:tblGrid>
              <a:tr h="34099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用例名称：恢复服务商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9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9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描述：商户查看服务商信息并恢复目标服务商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99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触发事件：商户查看被暂停服务商详情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99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98869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商户查看被暂停服务商详细信息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服务商名称，服务类型，服务地区，服务商状态，服务商品牌，服务商地址，联系方式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99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商户确认恢复服务商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系统提示已恢复服务商并更新服务商状态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4099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取消服务商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318385" y="1224280"/>
          <a:ext cx="7882890" cy="4950460"/>
        </p:xfrm>
        <a:graphic>
          <a:graphicData uri="http://schemas.openxmlformats.org/drawingml/2006/table">
            <a:tbl>
              <a:tblPr/>
              <a:tblGrid>
                <a:gridCol w="3941445"/>
                <a:gridCol w="3941445"/>
              </a:tblGrid>
              <a:tr h="31178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用例名称：取消服务商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178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11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178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描述：商户查看服务商信息并取消和服务商的合作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178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触发事件：商户查看待取消的服务商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115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6064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系统显示商户待取消的服务商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商户确认取消合作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系统显示取消成功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60642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待取消的服务商仍有服务单未完成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系统提示无法取消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指派服务单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850390" y="969010"/>
          <a:ext cx="8987790" cy="5705475"/>
        </p:xfrm>
        <a:graphic>
          <a:graphicData uri="http://schemas.openxmlformats.org/drawingml/2006/table">
            <a:tbl>
              <a:tblPr/>
              <a:tblGrid>
                <a:gridCol w="4493895"/>
                <a:gridCol w="4493895"/>
              </a:tblGrid>
              <a:tr h="25654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MALL-SERVICE-015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用例名称：指派服务单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8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2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服务单管理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21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描述：商户向服务商指派服务单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590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触发事件：服务单创建完成，商户需安排服务商提供服务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8227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商户选择待指派服务单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6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系统展示可指派的服务商列表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服务商名称，服务类型，服务地区，服务商状态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6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商户从列表中选择服务商进行指派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6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系统更改服务商状态并提醒被指派服务商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2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25717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暂无对应可指派的服务商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系统提示没有符合指派条件的服务商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63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商户选择稍后操作或联系管理员添加服务商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654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被指派的服务商被占用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系统提示该服务商被占用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27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商户选择稍后指派或更换指派服务商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21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38938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用例：</a:t>
            </a:r>
            <a:r>
              <a:rPr 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商户</a:t>
            </a:r>
            <a:r>
              <a:rPr lang="en-US" altLang="zh-CN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-</a:t>
            </a:r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创建服务单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39570" y="1032510"/>
          <a:ext cx="9323070" cy="5082540"/>
        </p:xfrm>
        <a:graphic>
          <a:graphicData uri="http://schemas.openxmlformats.org/drawingml/2006/table">
            <a:tbl>
              <a:tblPr/>
              <a:tblGrid>
                <a:gridCol w="4661535"/>
                <a:gridCol w="4661535"/>
              </a:tblGrid>
              <a:tr h="29972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用例编号：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MALL-SERVICE-016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用例名称：创建服务单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720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级别：用户目标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7C5E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包：服务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服务单管理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参与者：商户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908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描述：商户根据用户需求创建服务单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 gridSpan="2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触发事件：用户提出服务需求，商户创建服务单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主成功场景：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0035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商户选择创建服务单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商户填写服务单具体内容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服务时间，服务类别，服务地点，用户需求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系统生成服务单并返回服务单信息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服务时间，服务单号，服务类别，服务单状态，服务地点，用户需求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85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扩展场景：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0035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1a.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商户未填写完整服务单信息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0355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系统提示信息不完整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720"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商户选择重新填写并提交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720"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其他：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15595" y="446373"/>
            <a:ext cx="1960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49558A"/>
                </a:solidFill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Arial" panose="020B0604020202020204" pitchFamily="34" charset="0"/>
              </a:rPr>
              <a:t>业务流程图</a:t>
            </a:r>
            <a:endParaRPr lang="zh-CN" altLang="en-US" sz="2800" b="1" dirty="0">
              <a:solidFill>
                <a:srgbClr val="49558A"/>
              </a:solidFill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Arial" panose="020B0604020202020204" pitchFamily="34" charset="0"/>
            </a:endParaRPr>
          </a:p>
        </p:txBody>
      </p:sp>
      <p:sp>
        <p:nvSpPr>
          <p:cNvPr id="6" name="任意多边形"/>
          <p:cNvSpPr/>
          <p:nvPr/>
        </p:nvSpPr>
        <p:spPr>
          <a:xfrm>
            <a:off x="521970" y="446405"/>
            <a:ext cx="553720" cy="527050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495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1101725"/>
            <a:ext cx="10464800" cy="5589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2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3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4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5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6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7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8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9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10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11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12.xml><?xml version="1.0" encoding="utf-8"?>
<p:tagLst xmlns:p="http://schemas.openxmlformats.org/presentationml/2006/main">
  <p:tag name="KSO_WM_DIAGRAM_VIRTUALLY_FRAME" val="{&quot;height&quot;:143.2,&quot;left&quot;:153.9,&quot;top&quot;:237.85,&quot;width&quot;:696.55}"/>
</p:tagLst>
</file>

<file path=ppt/tags/tag13.xml><?xml version="1.0" encoding="utf-8"?>
<p:tagLst xmlns:p="http://schemas.openxmlformats.org/presentationml/2006/main">
  <p:tag name="TABLE_ENDDRAG_ORIGIN_RECT" val="593*403"/>
  <p:tag name="TABLE_ENDDRAG_RECT" val="189*85*593*403"/>
</p:tagLst>
</file>

<file path=ppt/tags/tag14.xml><?xml version="1.0" encoding="utf-8"?>
<p:tagLst xmlns:p="http://schemas.openxmlformats.org/presentationml/2006/main">
  <p:tag name="TABLE_ENDDRAG_ORIGIN_RECT" val="602*427"/>
  <p:tag name="TABLE_ENDDRAG_RECT" val="222*85*602*427"/>
</p:tagLst>
</file>

<file path=ppt/tags/tag15.xml><?xml version="1.0" encoding="utf-8"?>
<p:tagLst xmlns:p="http://schemas.openxmlformats.org/presentationml/2006/main">
  <p:tag name="TABLE_ENDDRAG_ORIGIN_RECT" val="620*404"/>
  <p:tag name="TABLE_ENDDRAG_RECT" val="176*100*620*404"/>
</p:tagLst>
</file>

<file path=ppt/tags/tag16.xml><?xml version="1.0" encoding="utf-8"?>
<p:tagLst xmlns:p="http://schemas.openxmlformats.org/presentationml/2006/main">
  <p:tag name="TABLE_ENDDRAG_ORIGIN_RECT" val="678*408"/>
  <p:tag name="TABLE_ENDDRAG_RECT" val="166*84*678*408"/>
</p:tagLst>
</file>

<file path=ppt/tags/tag17.xml><?xml version="1.0" encoding="utf-8"?>
<p:tagLst xmlns:p="http://schemas.openxmlformats.org/presentationml/2006/main">
  <p:tag name="TABLE_ENDDRAG_ORIGIN_RECT" val="683*424"/>
  <p:tag name="TABLE_ENDDRAG_RECT" val="222*97*683*424"/>
</p:tagLst>
</file>

<file path=ppt/tags/tag18.xml><?xml version="1.0" encoding="utf-8"?>
<p:tagLst xmlns:p="http://schemas.openxmlformats.org/presentationml/2006/main">
  <p:tag name="TABLE_ENDDRAG_ORIGIN_RECT" val="690*436"/>
  <p:tag name="TABLE_ENDDRAG_RECT" val="222*107*690*436"/>
</p:tagLst>
</file>

<file path=ppt/tags/tag19.xml><?xml version="1.0" encoding="utf-8"?>
<p:tagLst xmlns:p="http://schemas.openxmlformats.org/presentationml/2006/main">
  <p:tag name="TABLE_ENDDRAG_ORIGIN_RECT" val="635*409"/>
  <p:tag name="TABLE_ENDDRAG_RECT" val="166*96*635*409"/>
</p:tagLst>
</file>

<file path=ppt/tags/tag20.xml><?xml version="1.0" encoding="utf-8"?>
<p:tagLst xmlns:p="http://schemas.openxmlformats.org/presentationml/2006/main">
  <p:tag name="TABLE_ENDDRAG_ORIGIN_RECT" val="703*425"/>
  <p:tag name="TABLE_ENDDRAG_RECT" val="222*97*703*425"/>
</p:tagLst>
</file>

<file path=ppt/tags/tag21.xml><?xml version="1.0" encoding="utf-8"?>
<p:tagLst xmlns:p="http://schemas.openxmlformats.org/presentationml/2006/main">
  <p:tag name="TABLE_ENDDRAG_ORIGIN_RECT" val="666*397"/>
  <p:tag name="TABLE_ENDDRAG_RECT" val="222*117*666*397"/>
</p:tagLst>
</file>

<file path=ppt/tags/tag22.xml><?xml version="1.0" encoding="utf-8"?>
<p:tagLst xmlns:p="http://schemas.openxmlformats.org/presentationml/2006/main">
  <p:tag name="TABLE_ENDDRAG_ORIGIN_RECT" val="640*427"/>
  <p:tag name="TABLE_ENDDRAG_RECT" val="143*89*640*427"/>
</p:tagLst>
</file>

<file path=ppt/tags/tag23.xml><?xml version="1.0" encoding="utf-8"?>
<p:tagLst xmlns:p="http://schemas.openxmlformats.org/presentationml/2006/main">
  <p:tag name="TABLE_ENDDRAG_ORIGIN_RECT" val="641*382"/>
  <p:tag name="TABLE_ENDDRAG_RECT" val="178*113*641*382"/>
</p:tagLst>
</file>

<file path=ppt/tags/tag24.xml><?xml version="1.0" encoding="utf-8"?>
<p:tagLst xmlns:p="http://schemas.openxmlformats.org/presentationml/2006/main">
  <p:tag name="TABLE_ENDDRAG_ORIGIN_RECT" val="658*397"/>
  <p:tag name="TABLE_ENDDRAG_RECT" val="153*88*658*397"/>
</p:tagLst>
</file>

<file path=ppt/tags/tag25.xml><?xml version="1.0" encoding="utf-8"?>
<p:tagLst xmlns:p="http://schemas.openxmlformats.org/presentationml/2006/main">
  <p:tag name="TABLE_ENDDRAG_ORIGIN_RECT" val="693*398"/>
  <p:tag name="TABLE_ENDDRAG_RECT" val="138*104*693*398"/>
</p:tagLst>
</file>

<file path=ppt/tags/tag26.xml><?xml version="1.0" encoding="utf-8"?>
<p:tagLst xmlns:p="http://schemas.openxmlformats.org/presentationml/2006/main">
  <p:tag name="TABLE_ENDDRAG_ORIGIN_RECT" val="620*389"/>
  <p:tag name="TABLE_ENDDRAG_RECT" val="222*130*620*389"/>
</p:tagLst>
</file>

<file path=ppt/tags/tag27.xml><?xml version="1.0" encoding="utf-8"?>
<p:tagLst xmlns:p="http://schemas.openxmlformats.org/presentationml/2006/main">
  <p:tag name="TABLE_ENDDRAG_ORIGIN_RECT" val="692*508"/>
  <p:tag name="TABLE_ENDDRAG_RECT" val="148*92*692*508"/>
</p:tagLst>
</file>

<file path=ppt/tags/tag28.xml><?xml version="1.0" encoding="utf-8"?>
<p:tagLst xmlns:p="http://schemas.openxmlformats.org/presentationml/2006/main">
  <p:tag name="TABLE_ENDDRAG_ORIGIN_RECT" val="734*400"/>
  <p:tag name="TABLE_ENDDRAG_RECT" val="129*81*734*40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君黑-45简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君黑-45简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汉仪君黑-45简"/>
        <a:font script="Hebr" typeface="汉仪君黑-4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君黑-4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君黑-45简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汉仪君黑-45简"/>
        <a:font script="Hebr" typeface="汉仪君黑-4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君黑-4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君黑-45简"/>
        <a:ea typeface=""/>
        <a:cs typeface=""/>
        <a:font script="Jpan" typeface="ＭＳ Ｐゴシック"/>
        <a:font script="Hang" typeface="맑은 고딕"/>
        <a:font script="Hans" typeface="汉仪君黑-45简"/>
        <a:font script="Hant" typeface="新細明體"/>
        <a:font script="Arab" typeface="汉仪君黑-45简"/>
        <a:font script="Hebr" typeface="汉仪君黑-4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君黑-4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5229</Words>
  <Application>WPS 演示</Application>
  <PresentationFormat>宽屏</PresentationFormat>
  <Paragraphs>833</Paragraphs>
  <Slides>22</Slides>
  <Notes>18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汉仪君黑-45简</vt:lpstr>
      <vt:lpstr>汉仪中宋简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40733</dc:creator>
  <cp:lastModifiedBy>明天再说吧</cp:lastModifiedBy>
  <cp:revision>18</cp:revision>
  <dcterms:created xsi:type="dcterms:W3CDTF">2022-03-27T07:54:00Z</dcterms:created>
  <dcterms:modified xsi:type="dcterms:W3CDTF">2025-09-26T02:16:07Z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B3F2B6703E1D46989B18FA24E354B8EC_13</vt:lpwstr>
  </property>
  <property fmtid="{D5CDD505-2E9C-101B-9397-08002B2CF9AE}" pid="3" name="KSOProductBuildVer">
    <vt:lpwstr>2052-12.1.0.23125</vt:lpwstr>
  </property>
  <property fmtid="{D5CDD505-2E9C-101B-9397-08002B2CF9AE}" pid="4" name="KSOTemplateUUID">
    <vt:lpwstr>v1.0_mb_kjXRALNt86x5m4sjaJzy1g==</vt:lpwstr>
  </property>
</Properties>
</file>